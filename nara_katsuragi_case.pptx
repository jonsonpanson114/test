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9" r:id="rId2"/>
    <p:sldId id="260" r:id="rId3"/>
    <p:sldId id="258" r:id="rId4"/>
  </p:sldIdLst>
  <p:sldSz cx="6858000" cy="9906000" type="A4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3" userDrawn="1">
          <p15:clr>
            <a:srgbClr val="A4A3A4"/>
          </p15:clr>
        </p15:guide>
        <p15:guide id="2" pos="346" userDrawn="1">
          <p15:clr>
            <a:srgbClr val="A4A3A4"/>
          </p15:clr>
        </p15:guide>
        <p15:guide id="3" pos="2260" userDrawn="1">
          <p15:clr>
            <a:srgbClr val="A4A3A4"/>
          </p15:clr>
        </p15:guide>
        <p15:guide id="4" orient="horz" pos="2049" userDrawn="1">
          <p15:clr>
            <a:srgbClr val="A4A3A4"/>
          </p15:clr>
        </p15:guide>
        <p15:guide id="5" pos="3974" userDrawn="1">
          <p15:clr>
            <a:srgbClr val="A4A3A4"/>
          </p15:clr>
        </p15:guide>
        <p15:guide id="6" orient="horz" pos="5887" userDrawn="1">
          <p15:clr>
            <a:srgbClr val="A4A3A4"/>
          </p15:clr>
        </p15:guide>
        <p15:guide id="7" orient="horz" pos="1928" userDrawn="1">
          <p15:clr>
            <a:srgbClr val="A4A3A4"/>
          </p15:clr>
        </p15:guide>
        <p15:guide id="8" pos="2160" userDrawn="1">
          <p15:clr>
            <a:srgbClr val="A4A3A4"/>
          </p15:clr>
        </p15:guide>
        <p15:guide id="9" orient="horz" pos="3619" userDrawn="1">
          <p15:clr>
            <a:srgbClr val="A4A3A4"/>
          </p15:clr>
        </p15:guide>
        <p15:guide id="10" orient="horz" pos="3755" userDrawn="1">
          <p15:clr>
            <a:srgbClr val="A4A3A4"/>
          </p15:clr>
        </p15:guide>
        <p15:guide id="11" orient="horz" pos="53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F6F0"/>
    <a:srgbClr val="9999FF"/>
    <a:srgbClr val="F131B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4" autoAdjust="0"/>
    <p:restoredTop sz="94667" autoAdjust="0"/>
  </p:normalViewPr>
  <p:slideViewPr>
    <p:cSldViewPr snapToGrid="0" showGuides="1">
      <p:cViewPr>
        <p:scale>
          <a:sx n="125" d="100"/>
          <a:sy n="125" d="100"/>
        </p:scale>
        <p:origin x="1374" y="-3432"/>
      </p:cViewPr>
      <p:guideLst>
        <p:guide orient="horz" pos="353"/>
        <p:guide pos="346"/>
        <p:guide pos="2260"/>
        <p:guide orient="horz" pos="2049"/>
        <p:guide pos="3974"/>
        <p:guide orient="horz" pos="5887"/>
        <p:guide orient="horz" pos="1928"/>
        <p:guide pos="2160"/>
        <p:guide orient="horz" pos="3619"/>
        <p:guide orient="horz" pos="3755"/>
        <p:guide orient="horz" pos="53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E6C99-AC8A-4EF0-8A75-4F81901DFC64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933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E51A1-A7A2-4164-8C56-112233FE98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51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24A6-FE69-D0A3-8FFC-56E36F9A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5DD04C7-3FE7-43B3-4E3F-68D7DFBE7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3E6DA3-0BAD-5893-DFE8-25E3FA3C1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kumimoji="1" lang="en-US" altLang="ja-JP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4F37B9-C17D-0BDE-395C-0F6019858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E51A1-A7A2-4164-8C56-112233FE98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573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B3D1-5762-DCEC-2FCD-5D77B845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3F5B4A-ADD9-3E06-F12E-7E170587C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D8444D-E1C5-216F-C239-64555AC15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kumimoji="1" lang="en-US" altLang="ja-JP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1CF433-AEEE-7AA6-9E63-D1167FB6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E51A1-A7A2-4164-8C56-112233FE982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85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9ECD-34BD-E475-BA62-921863F1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21B6F2-25F1-72BD-331A-CA1F3303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C3810A-3035-DF6D-04B3-8D8400CEE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kumimoji="1" lang="en-US" altLang="ja-JP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C1E4C8-C419-74C7-5AF6-C51A9013A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E51A1-A7A2-4164-8C56-112233FE982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9233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54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50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88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60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36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44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456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81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68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1733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BA0BB-EA48-4A14-B250-F4A5DECBC41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A3C2B-61A9-4D6B-A5C7-A31DD2535A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7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microsoft.com/office/2007/relationships/hdphoto" Target="../media/hdphoto1.wdp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50943-E6A2-7127-427F-DF0241BA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4F2E129-094B-85E5-B958-0B3123EE1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864" y="9477669"/>
            <a:ext cx="1986272" cy="2235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3D1776-18D9-BD9D-F887-54150B116BF0}"/>
              </a:ext>
            </a:extLst>
          </p:cNvPr>
          <p:cNvSpPr txBox="1"/>
          <p:nvPr/>
        </p:nvSpPr>
        <p:spPr>
          <a:xfrm>
            <a:off x="294134" y="308513"/>
            <a:ext cx="63315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2">
                    <a:lumMod val="75000"/>
                  </a:schemeClr>
                </a:solidFill>
                <a:latin typeface="Zen Kaku Gothic New"/>
              </a:rPr>
              <a:t>■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おすすめ納入事例</a:t>
            </a:r>
            <a:r>
              <a:rPr lang="ja-JP" altLang="en-US" b="1" dirty="0">
                <a:solidFill>
                  <a:schemeClr val="accent1"/>
                </a:solidFill>
                <a:latin typeface="Zen Kaku Gothic New"/>
              </a:rPr>
              <a:t>■</a:t>
            </a:r>
            <a:endParaRPr lang="en-US" altLang="ja-JP" b="1" dirty="0">
              <a:solidFill>
                <a:srgbClr val="323232"/>
              </a:solidFill>
              <a:latin typeface="Zen Kaku Gothic New"/>
            </a:endParaRPr>
          </a:p>
          <a:p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>（複数の製品を納入した事例）</a:t>
            </a:r>
            <a:r>
              <a:rPr lang="en-US" altLang="ja-JP" sz="1600" b="1" dirty="0">
                <a:solidFill>
                  <a:srgbClr val="323232"/>
                </a:solidFill>
                <a:latin typeface="Zen Kaku Gothic New"/>
              </a:rPr>
              <a:t/>
            </a:r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/>
            </a:r>
            <a:b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</a:br>
            <a:r>
              <a:rPr lang="ja-JP" altLang="en-US" b="1" dirty="0">
                <a:solidFill>
                  <a:srgbClr val="F131BF"/>
                </a:solidFill>
                <a:latin typeface="Zen Kaku Gothic New"/>
              </a:rPr>
              <a:t>■</a:t>
            </a:r>
            <a: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  <a:t>物件名：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（仮称）當麻複合施設整備（葛城市）</a:t>
            </a:r>
            <a:endParaRPr lang="en-US" altLang="ja-JP" b="1" i="0" dirty="0">
              <a:solidFill>
                <a:srgbClr val="323232"/>
              </a:solidFill>
              <a:effectLst/>
              <a:latin typeface="Zen Kaku Gothic New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A57EA5-5DDD-D179-8818-259F48DAC664}"/>
              </a:ext>
            </a:extLst>
          </p:cNvPr>
          <p:cNvSpPr txBox="1"/>
          <p:nvPr/>
        </p:nvSpPr>
        <p:spPr>
          <a:xfrm>
            <a:off x="359800" y="1288967"/>
            <a:ext cx="6163830" cy="3077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323232"/>
                </a:solidFill>
                <a:latin typeface="Zen Kaku Gothic New"/>
              </a:defRPr>
            </a:lvl1pPr>
          </a:lstStyle>
          <a:p>
            <a:pPr algn="ctr"/>
            <a:r>
              <a:rPr lang="ja-JP" altLang="en-US" sz="1400" dirty="0">
                <a:solidFill>
                  <a:schemeClr val="bg1"/>
                </a:solidFill>
              </a:rPr>
              <a:t>概要・経緯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8AB9896-F250-4DBF-027A-0C404B6F6742}"/>
              </a:ext>
            </a:extLst>
          </p:cNvPr>
          <p:cNvCxnSpPr/>
          <p:nvPr/>
        </p:nvCxnSpPr>
        <p:spPr>
          <a:xfrm>
            <a:off x="294134" y="201687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61C25AF-102D-8A1F-02D4-B8449C97E056}"/>
              </a:ext>
            </a:extLst>
          </p:cNvPr>
          <p:cNvCxnSpPr/>
          <p:nvPr/>
        </p:nvCxnSpPr>
        <p:spPr>
          <a:xfrm>
            <a:off x="294133" y="1198402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EF929A-9447-B5ED-0885-91A45BF8CA9B}"/>
              </a:ext>
            </a:extLst>
          </p:cNvPr>
          <p:cNvSpPr/>
          <p:nvPr/>
        </p:nvSpPr>
        <p:spPr>
          <a:xfrm>
            <a:off x="461846" y="1677933"/>
            <a:ext cx="5993543" cy="76375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6940" y="1760000"/>
          <a:ext cx="5903353" cy="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000"/>
                <a:gridCol w="4803353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発注者</a:t>
                      </a:r>
                    </a:p>
                  </a:txBody>
                  <a:tcPr anchor="ctr">
                    <a:solidFill>
                      <a:srgbClr val="F131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葛城市役所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設計</a:t>
                      </a:r>
                    </a:p>
                  </a:txBody>
                  <a:tcPr anchor="ctr">
                    <a:solidFill>
                      <a:srgbClr val="F131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青木茂建築工房・福本設計設計共同体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受注内容</a:t>
                      </a:r>
                    </a:p>
                  </a:txBody>
                  <a:tcPr anchor="ctr">
                    <a:solidFill>
                      <a:srgbClr val="F131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23232"/>
                          </a:solidFill>
                        </a:rPr>
                        <a:t>6製品 / 設計織込金額 20,529千円（約2,050万円）　※受注済み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06940" y="286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2022年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6940" y="284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物件が出る前に情報をつかむ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役所訪問で「大きい物件が出る。ガラス・移動間仕切りも多数」との情報を入手。課長同行で製品PR、後日RW事業部も同行し移動間仕切りをPR。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31940" y="3160000"/>
            <a:ext cx="0" cy="750000"/>
          </a:xfrm>
          <a:prstGeom prst="line">
            <a:avLst/>
          </a:prstGeom>
          <a:ln w="19050">
            <a:solidFill>
              <a:srgbClr val="F13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6940" y="391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2023年2月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6940" y="389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性能・概算を先に出し、体感してもらう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役所の依頼で移動間仕切り4種の遮音性能（想定値）と概算金額を提出、160D-SEDの動画でPR。要望を受け、メンテ工事中の春日野国際フォーラムで100Dの遮音を体感してもらった。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1940" y="4210000"/>
            <a:ext cx="0" cy="750000"/>
          </a:xfrm>
          <a:prstGeom prst="line">
            <a:avLst/>
          </a:prstGeom>
          <a:ln w="19050">
            <a:solidFill>
              <a:srgbClr val="F13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6940" y="496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2023年9月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6940" y="494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設計者決定 → 役所の関心を設計者へ橋渡し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設計が青木茂建築工房（福岡）・福本設計（奈良）に決定。福本設計へPRし、役所が興味を持つ製品を共有。「話が早いので教えてほしい」との反応。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31940" y="5260000"/>
            <a:ext cx="0" cy="750000"/>
          </a:xfrm>
          <a:prstGeom prst="line">
            <a:avLst/>
          </a:prstGeom>
          <a:ln w="19050">
            <a:solidFill>
              <a:srgbClr val="F13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06940" y="601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2023年10月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6940" y="599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関係者全員を大阪ショールームへ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役所・設計2社・デザイン事務所が来館。スマートレール等に強く反応し、ガラス間仕切りはスマートレールに決定。トイレブースも決定。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31940" y="6310000"/>
            <a:ext cx="0" cy="750000"/>
          </a:xfrm>
          <a:prstGeom prst="line">
            <a:avLst/>
          </a:prstGeom>
          <a:ln w="19050">
            <a:solidFill>
              <a:srgbClr val="F13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6940" y="706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2024年5〜6月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86940" y="704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基本プランで概算、決定前にもう一押し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パーテーション・トイレブース・軽量ドアの概算を作成（移動間仕切りは未定で120Dにて見積）。市民ミーティングで議題になる可能性があり、役所・設計に再度PR。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31940" y="7360000"/>
            <a:ext cx="0" cy="750000"/>
          </a:xfrm>
          <a:prstGeom prst="line">
            <a:avLst/>
          </a:prstGeom>
          <a:ln w="19050">
            <a:solidFill>
              <a:srgbClr val="F13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6940" y="8110000"/>
            <a:ext cx="1250000" cy="300000"/>
          </a:xfrm>
          <a:prstGeom prst="roundRect">
            <a:avLst/>
          </a:prstGeom>
          <a:solidFill>
            <a:srgbClr val="F13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2024年8月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86940" y="8095000"/>
            <a:ext cx="4523353" cy="99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>
                <a:solidFill>
                  <a:srgbClr val="323232"/>
                </a:solidFill>
              </a:rPr>
              <a:t>移動間仕切り 160D-SED に決定</a:t>
            </a:r>
          </a:p>
          <a:p>
            <a:pPr algn="l"/>
            <a:r>
              <a:rPr sz="1050" b="0">
                <a:solidFill>
                  <a:srgbClr val="595959"/>
                </a:solidFill>
              </a:rPr>
              <a:t>参考図面を作図。計6製品が設計に織り込まれ、受注に至った。</a:t>
            </a:r>
          </a:p>
        </p:txBody>
      </p:sp>
    </p:spTree>
    <p:extLst>
      <p:ext uri="{BB962C8B-B14F-4D97-AF65-F5344CB8AC3E}">
        <p14:creationId xmlns:p14="http://schemas.microsoft.com/office/powerpoint/2010/main" val="29251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0E82-00AE-B120-2698-257C5208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4FF3E5-1D0E-72E0-C8C8-019EABE90D9C}"/>
              </a:ext>
            </a:extLst>
          </p:cNvPr>
          <p:cNvSpPr txBox="1"/>
          <p:nvPr/>
        </p:nvSpPr>
        <p:spPr>
          <a:xfrm>
            <a:off x="359800" y="1286305"/>
            <a:ext cx="6163830" cy="30777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23232"/>
                </a:solidFill>
                <a:latin typeface="Zen Kaku Gothic New"/>
              </a:defRPr>
            </a:lvl1pPr>
          </a:lstStyle>
          <a:p>
            <a:pPr algn="ctr"/>
            <a:r>
              <a:rPr lang="ja-JP" altLang="en-US" dirty="0">
                <a:solidFill>
                  <a:schemeClr val="bg1"/>
                </a:solidFill>
              </a:rPr>
              <a:t>図面</a:t>
            </a:r>
            <a:endParaRPr lang="en-US" altLang="ja-JP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344C31A-B227-8475-BA51-0AE0BD2A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864" y="9477669"/>
            <a:ext cx="1986272" cy="2235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EFAFA1-57DF-1DFC-F24C-8836F6DD4E42}"/>
              </a:ext>
            </a:extLst>
          </p:cNvPr>
          <p:cNvSpPr txBox="1"/>
          <p:nvPr/>
        </p:nvSpPr>
        <p:spPr>
          <a:xfrm>
            <a:off x="294134" y="308513"/>
            <a:ext cx="63315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2">
                    <a:lumMod val="75000"/>
                  </a:schemeClr>
                </a:solidFill>
                <a:latin typeface="Zen Kaku Gothic New"/>
              </a:rPr>
              <a:t>■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おすすめ納入事例</a:t>
            </a:r>
            <a:r>
              <a:rPr lang="ja-JP" altLang="en-US" b="1" dirty="0">
                <a:solidFill>
                  <a:schemeClr val="accent1"/>
                </a:solidFill>
                <a:latin typeface="Zen Kaku Gothic New"/>
              </a:rPr>
              <a:t>■</a:t>
            </a:r>
            <a:endParaRPr lang="en-US" altLang="ja-JP" b="1" dirty="0">
              <a:solidFill>
                <a:srgbClr val="323232"/>
              </a:solidFill>
              <a:latin typeface="Zen Kaku Gothic New"/>
            </a:endParaRPr>
          </a:p>
          <a:p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>（複数の製品を納入した事例）</a:t>
            </a:r>
            <a:r>
              <a:rPr lang="en-US" altLang="ja-JP" sz="1600" b="1" dirty="0">
                <a:solidFill>
                  <a:srgbClr val="323232"/>
                </a:solidFill>
                <a:latin typeface="Zen Kaku Gothic New"/>
              </a:rPr>
              <a:t/>
            </a:r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/>
            </a:r>
            <a:b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</a:br>
            <a:r>
              <a:rPr lang="ja-JP" altLang="en-US" b="1" dirty="0">
                <a:solidFill>
                  <a:srgbClr val="F131BF"/>
                </a:solidFill>
                <a:latin typeface="Zen Kaku Gothic New"/>
              </a:rPr>
              <a:t>■</a:t>
            </a:r>
            <a: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  <a:t>物件名：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（仮称）當麻複合施設整備（葛城市）</a:t>
            </a:r>
            <a:endParaRPr lang="en-US" altLang="ja-JP" b="1" i="0" dirty="0">
              <a:solidFill>
                <a:srgbClr val="323232"/>
              </a:solidFill>
              <a:effectLst/>
              <a:latin typeface="Zen Kaku Gothic New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259264D-A657-9D03-7028-20EE0598928B}"/>
              </a:ext>
            </a:extLst>
          </p:cNvPr>
          <p:cNvCxnSpPr/>
          <p:nvPr/>
        </p:nvCxnSpPr>
        <p:spPr>
          <a:xfrm>
            <a:off x="294134" y="201687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B295643-13C0-179A-A031-974369F0182E}"/>
              </a:ext>
            </a:extLst>
          </p:cNvPr>
          <p:cNvCxnSpPr/>
          <p:nvPr/>
        </p:nvCxnSpPr>
        <p:spPr>
          <a:xfrm>
            <a:off x="294133" y="1198402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87433B3-4AD8-DB8C-1103-E3D6DDF719A5}"/>
              </a:ext>
            </a:extLst>
          </p:cNvPr>
          <p:cNvSpPr/>
          <p:nvPr/>
        </p:nvSpPr>
        <p:spPr>
          <a:xfrm>
            <a:off x="461846" y="1677933"/>
            <a:ext cx="5993543" cy="76375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Picture 21" descr="image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16" y="1800000"/>
            <a:ext cx="5450000" cy="40569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6940" y="5886951"/>
            <a:ext cx="5903353" cy="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多目的スタジオ：移動間仕切り RW-160D_SED　平面図・展開図（2024.9）</a:t>
            </a:r>
          </a:p>
        </p:txBody>
      </p:sp>
      <p:pic>
        <p:nvPicPr>
          <p:cNvPr id="24" name="Picture 23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940" y="6216951"/>
            <a:ext cx="2800000" cy="1847240"/>
          </a:xfrm>
          <a:prstGeom prst="rect">
            <a:avLst/>
          </a:prstGeom>
        </p:spPr>
      </p:pic>
      <p:pic>
        <p:nvPicPr>
          <p:cNvPr id="25" name="Picture 24" descr="image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0293" y="6216951"/>
            <a:ext cx="2800000" cy="214527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6940" y="8392225"/>
            <a:ext cx="2800000" cy="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2階 グループワークブース　平面図・展開図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0293" y="8392225"/>
            <a:ext cx="2800000" cy="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キッチンスペース　平面図・詳細図</a:t>
            </a:r>
          </a:p>
        </p:txBody>
      </p:sp>
    </p:spTree>
    <p:extLst>
      <p:ext uri="{BB962C8B-B14F-4D97-AF65-F5344CB8AC3E}">
        <p14:creationId xmlns:p14="http://schemas.microsoft.com/office/powerpoint/2010/main" val="1081520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7E4C-A46C-74BE-9DA4-7C6A571E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E1EB2A-1207-A727-D30A-FCD2E76BC85E}"/>
              </a:ext>
            </a:extLst>
          </p:cNvPr>
          <p:cNvSpPr txBox="1"/>
          <p:nvPr/>
        </p:nvSpPr>
        <p:spPr>
          <a:xfrm>
            <a:off x="359800" y="1286305"/>
            <a:ext cx="6163830" cy="307777"/>
          </a:xfrm>
          <a:prstGeom prst="rect">
            <a:avLst/>
          </a:prstGeom>
          <a:solidFill>
            <a:srgbClr val="F131BF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23232"/>
                </a:solidFill>
                <a:latin typeface="Zen Kaku Gothic New"/>
              </a:defRPr>
            </a:lvl1pPr>
          </a:lstStyle>
          <a:p>
            <a:pPr algn="ctr"/>
            <a:r>
              <a:rPr lang="ja-JP" altLang="en-US" dirty="0">
                <a:solidFill>
                  <a:schemeClr val="bg1"/>
                </a:solidFill>
              </a:rPr>
              <a:t>特長</a:t>
            </a:r>
            <a:endParaRPr lang="en-US" altLang="ja-JP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4F521EC-5E7B-9741-D167-CCB6E077A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864" y="9477669"/>
            <a:ext cx="1986272" cy="2235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992B6E-06F5-C9CC-3A2E-0A70B28B1BB3}"/>
              </a:ext>
            </a:extLst>
          </p:cNvPr>
          <p:cNvSpPr txBox="1"/>
          <p:nvPr/>
        </p:nvSpPr>
        <p:spPr>
          <a:xfrm>
            <a:off x="294134" y="308513"/>
            <a:ext cx="63315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2">
                    <a:lumMod val="75000"/>
                  </a:schemeClr>
                </a:solidFill>
                <a:latin typeface="Zen Kaku Gothic New"/>
              </a:rPr>
              <a:t>■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おすすめ納入事例</a:t>
            </a:r>
            <a:r>
              <a:rPr lang="ja-JP" altLang="en-US" b="1" dirty="0">
                <a:solidFill>
                  <a:schemeClr val="accent1"/>
                </a:solidFill>
                <a:latin typeface="Zen Kaku Gothic New"/>
              </a:rPr>
              <a:t>■</a:t>
            </a:r>
            <a:endParaRPr lang="en-US" altLang="ja-JP" b="1" dirty="0">
              <a:solidFill>
                <a:srgbClr val="323232"/>
              </a:solidFill>
              <a:latin typeface="Zen Kaku Gothic New"/>
            </a:endParaRPr>
          </a:p>
          <a:p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>（複数の製品を納入した事例）</a:t>
            </a:r>
            <a:r>
              <a:rPr lang="en-US" altLang="ja-JP" sz="1600" b="1" dirty="0">
                <a:solidFill>
                  <a:srgbClr val="323232"/>
                </a:solidFill>
                <a:latin typeface="Zen Kaku Gothic New"/>
              </a:rPr>
              <a:t/>
            </a:r>
            <a:r>
              <a:rPr lang="ja-JP" altLang="en-US" sz="1600" b="1" dirty="0">
                <a:solidFill>
                  <a:srgbClr val="323232"/>
                </a:solidFill>
                <a:latin typeface="Zen Kaku Gothic New"/>
              </a:rPr>
              <a:t/>
            </a:r>
            <a:b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</a:br>
            <a:r>
              <a:rPr lang="ja-JP" altLang="en-US" b="1" dirty="0">
                <a:solidFill>
                  <a:srgbClr val="F131BF"/>
                </a:solidFill>
                <a:latin typeface="Zen Kaku Gothic New"/>
              </a:rPr>
              <a:t>■</a:t>
            </a:r>
            <a:r>
              <a:rPr lang="ja-JP" altLang="en-US" b="1" i="0" dirty="0">
                <a:solidFill>
                  <a:srgbClr val="323232"/>
                </a:solidFill>
                <a:effectLst/>
                <a:latin typeface="Zen Kaku Gothic New"/>
              </a:rPr>
              <a:t>物件名：</a:t>
            </a:r>
            <a:r>
              <a:rPr lang="ja-JP" altLang="en-US" b="1" dirty="0">
                <a:solidFill>
                  <a:srgbClr val="323232"/>
                </a:solidFill>
                <a:latin typeface="Zen Kaku Gothic New"/>
              </a:rPr>
              <a:t>（仮称）當麻複合施設整備（葛城市）</a:t>
            </a:r>
            <a:endParaRPr lang="en-US" altLang="ja-JP" b="1" i="0" dirty="0">
              <a:solidFill>
                <a:srgbClr val="323232"/>
              </a:solidFill>
              <a:effectLst/>
              <a:latin typeface="Zen Kaku Gothic New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96B01A9-690A-98A7-78C9-43F0542DF8B0}"/>
              </a:ext>
            </a:extLst>
          </p:cNvPr>
          <p:cNvCxnSpPr/>
          <p:nvPr/>
        </p:nvCxnSpPr>
        <p:spPr>
          <a:xfrm>
            <a:off x="294134" y="201687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9C384DD-DEEA-F3FB-C4D0-900DD8F145BA}"/>
              </a:ext>
            </a:extLst>
          </p:cNvPr>
          <p:cNvCxnSpPr/>
          <p:nvPr/>
        </p:nvCxnSpPr>
        <p:spPr>
          <a:xfrm>
            <a:off x="294133" y="1198402"/>
            <a:ext cx="6161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344632-2A1C-C8AB-FBAA-3EB0090BE9E0}"/>
              </a:ext>
            </a:extLst>
          </p:cNvPr>
          <p:cNvSpPr/>
          <p:nvPr/>
        </p:nvSpPr>
        <p:spPr>
          <a:xfrm>
            <a:off x="461846" y="1677933"/>
            <a:ext cx="5993543" cy="76375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B38860D-0711-E8A9-A738-2ED695DB58F7}"/>
              </a:ext>
            </a:extLst>
          </p:cNvPr>
          <p:cNvSpPr txBox="1"/>
          <p:nvPr/>
        </p:nvSpPr>
        <p:spPr>
          <a:xfrm>
            <a:off x="519656" y="4310000"/>
            <a:ext cx="58441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00" dirty="0">
                <a:latin typeface="+mn-ea"/>
              </a:rPr>
              <a:t>構想段階：「大きい物件が出る」という情報のみ</a:t>
            </a:r>
            <a:endParaRPr kumimoji="1" lang="en-US" altLang="ja-JP" sz="1600" dirty="0">
              <a:latin typeface="+mn-ea"/>
            </a:endParaRPr>
          </a:p>
          <a:p>
            <a:pPr algn="ctr"/>
            <a:r>
              <a:rPr sz="1500" b="0"/>
              <a:t>⇓</a:t>
            </a:r>
          </a:p>
          <a:p>
            <a:pPr algn="ctr"/>
            <a:r>
              <a:rPr sz="1500" b="0"/>
              <a:t>基本設計：</a:t>
            </a:r>
            <a:r>
              <a:rPr sz="1500" b="1"/>
              <a:t>役所・設計者・デザイン事務所を巻き込み、6製品 20,529千円を織り込み</a:t>
            </a:r>
          </a:p>
          <a:p>
            <a:pPr algn="ctr">
              <a:spcBef>
                <a:spcPts val="800"/>
              </a:spcBef>
            </a:pPr>
            <a:r>
              <a:rPr sz="1250" b="0"/>
              <a:t>① 物件が出る前から入り、性能・概算を先に提出</a:t>
            </a:r>
          </a:p>
          <a:p>
            <a:pPr algn="ctr"/>
            <a:r>
              <a:rPr sz="1250" b="0"/>
              <a:t>② メンテ工事中の既設現場で、遮音性能を体感してもらった</a:t>
            </a:r>
          </a:p>
          <a:p>
            <a:pPr algn="ctr"/>
            <a:r>
              <a:rPr sz="1250" b="0"/>
              <a:t>③ 設計者決定直後に役所の関心を橋渡し、ショールームで全員同時に決定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506940" y="1790000"/>
          <a:ext cx="5903353" cy="24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/>
                <a:gridCol w="1300000"/>
                <a:gridCol w="1603353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織込製品</a:t>
                      </a:r>
                    </a:p>
                  </a:txBody>
                  <a:tcPr anchor="ctr" marT="20000" marB="20000">
                    <a:solidFill>
                      <a:srgbClr val="F131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数量</a:t>
                      </a:r>
                    </a:p>
                  </a:txBody>
                  <a:tcPr anchor="ctr" marT="20000" marB="20000">
                    <a:solidFill>
                      <a:srgbClr val="F131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設計織込金額（千円）</a:t>
                      </a:r>
                    </a:p>
                  </a:txBody>
                  <a:tcPr anchor="ctr" marT="20000" marB="20000">
                    <a:solidFill>
                      <a:srgbClr val="F131B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LSD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13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376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LSDCD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18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847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サニティブース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21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982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MW-70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248.5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9,216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RW遮音160DSED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109.34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8,509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23232"/>
                          </a:solidFill>
                        </a:rPr>
                        <a:t>MWSD遮音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28.2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23232"/>
                          </a:solidFill>
                        </a:rPr>
                        <a:t>599</a:t>
                      </a:r>
                    </a:p>
                  </a:txBody>
                  <a:tcPr anchor="ctr" marT="20000" marB="20000">
                    <a:solidFill>
                      <a:srgbClr val="F4F4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23232"/>
                          </a:solidFill>
                        </a:rPr>
                        <a:t>合計</a:t>
                      </a:r>
                    </a:p>
                  </a:txBody>
                  <a:tcPr anchor="ctr" marT="20000" marB="2000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23232"/>
                          </a:solidFill>
                        </a:rPr>
                        <a:t/>
                      </a:r>
                    </a:p>
                  </a:txBody>
                  <a:tcPr anchor="ctr" marT="20000" marB="2000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23232"/>
                          </a:solidFill>
                        </a:rPr>
                        <a:t>20,529</a:t>
                      </a:r>
                    </a:p>
                  </a:txBody>
                  <a:tcPr anchor="ctr" marT="20000" marB="2000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pic>
        <p:nvPicPr>
          <p:cNvPr id="54" name="Picture 53" descr="image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940" y="6750000"/>
            <a:ext cx="2850000" cy="2003171"/>
          </a:xfrm>
          <a:prstGeom prst="rect">
            <a:avLst/>
          </a:prstGeom>
        </p:spPr>
      </p:pic>
      <p:pic>
        <p:nvPicPr>
          <p:cNvPr id="55" name="Picture 54" descr="image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0293" y="6750000"/>
            <a:ext cx="2850000" cy="199153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56940" y="8783171"/>
            <a:ext cx="2850000" cy="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移動間仕切り　遮音性能の製品選定目安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0293" y="8783171"/>
            <a:ext cx="2850000" cy="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</a:rPr>
              <a:t>採用：RW-160D_SED（カタログ画像）</a:t>
            </a:r>
          </a:p>
        </p:txBody>
      </p:sp>
    </p:spTree>
    <p:extLst>
      <p:ext uri="{BB962C8B-B14F-4D97-AF65-F5344CB8AC3E}">
        <p14:creationId xmlns:p14="http://schemas.microsoft.com/office/powerpoint/2010/main" val="2336453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749</TotalTime>
  <Words>171</Words>
  <Application>Microsoft Office PowerPoint</Application>
  <PresentationFormat>A4 210 x 297 mm</PresentationFormat>
  <Paragraphs>19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Zen Kaku Gothic New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裕樹</dc:creator>
  <cp:lastModifiedBy>真壁 太一</cp:lastModifiedBy>
  <cp:revision>65</cp:revision>
  <cp:lastPrinted>2025-12-10T06:42:19Z</cp:lastPrinted>
  <dcterms:created xsi:type="dcterms:W3CDTF">2024-05-08T01:32:15Z</dcterms:created>
  <dcterms:modified xsi:type="dcterms:W3CDTF">2026-09-29T02:39:43Z</dcterms:modified>
</cp:coreProperties>
</file>